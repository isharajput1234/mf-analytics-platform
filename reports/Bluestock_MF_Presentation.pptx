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f05d92d-01de-06d2-0b21-76cbcb541e04}">
          <p14:sldIdLst>
            <p14:sldId id="256"/>
          </p14:sldIdLst>
        </p14:section>
        <p14:section name="Problem &amp; Data" id="{75c870c7-52f4-0c95-d08d-07383119661c}">
          <p14:sldIdLst>
            <p14:sldId id="257"/>
            <p14:sldId id="258"/>
          </p14:sldIdLst>
        </p14:section>
        <p14:section name="Engineering &amp; EDA" id="{e3730df3-5cb1-d452-f8fc-e8f930d5e34a}">
          <p14:sldIdLst>
            <p14:sldId id="259"/>
            <p14:sldId id="260"/>
            <p14:sldId id="261"/>
          </p14:sldIdLst>
        </p14:section>
        <p14:section name="Performance Analytics" id="{64f22c62-fa73-bc25-893b-b8de25aed19d}">
          <p14:sldIdLst>
            <p14:sldId id="262"/>
            <p14:sldId id="263"/>
          </p14:sldIdLst>
        </p14:section>
        <p14:section name="Dashboard" id="{f6e7aaa0-f053-3863-a65d-476e6561d833}">
          <p14:sldIdLst>
            <p14:sldId id="264"/>
            <p14:sldId id="265"/>
            <p14:sldId id="266"/>
          </p14:sldIdLst>
        </p14:section>
        <p14:section name="Conclusion" id="{8f40e0aa-8625-0939-a6ae-6377ac76be8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 illustration" descr="Stylised mutual fund analytics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5"/>
                </a:solidFill>
              </a:rPr>
              <a:t>BLUESTOCK FINTECH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01168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MUTUAL FUND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ANALYTICS PLATFORM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97764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6F2"/>
                </a:solidFill>
              </a:rPr>
              <a:t>End-to-End Data Engineering • ETL • SQL • EDA • Performance Analytics • BI</a:t>
            </a:r>
            <a:endParaRPr lang="en-US" sz="1800" dirty="0"/>
          </a:p>
        </p:txBody>
      </p:sp>
      <p:sp>
        <p:nvSpPr>
          <p:cNvPr id="6" name="Date pill"/>
          <p:cNvSpPr/>
          <p:nvPr/>
        </p:nvSpPr>
        <p:spPr>
          <a:xfrm>
            <a:off x="731520" y="5623560"/>
            <a:ext cx="2468880" cy="457200"/>
          </a:xfrm>
          <a:prstGeom prst="roundRect">
            <a:avLst>
              <a:gd name="adj" fmla="val 50000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623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Capstone Project 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2. Problem &amp; Objective</a:t>
            </a:r>
            <a:endParaRPr lang="en-US" sz="3400" dirty="0"/>
          </a:p>
        </p:txBody>
      </p:sp>
      <p:pic>
        <p:nvPicPr>
          <p:cNvPr id="3" name="Illustration panel" descr="Documents converging into one hu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2" y="1417320"/>
            <a:ext cx="3931920" cy="4828032"/>
          </a:xfrm>
          <a:prstGeom prst="rect">
            <a:avLst/>
          </a:prstGeom>
        </p:spPr>
      </p:pic>
      <p:sp>
        <p:nvSpPr>
          <p:cNvPr id="4" name="Card 1"/>
          <p:cNvSpPr/>
          <p:nvPr/>
        </p:nvSpPr>
        <p:spPr>
          <a:xfrm>
            <a:off x="548640" y="1417320"/>
            <a:ext cx="7040880" cy="1069848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5" name="Icon circle 1"/>
          <p:cNvSpPr/>
          <p:nvPr/>
        </p:nvSpPr>
        <p:spPr>
          <a:xfrm>
            <a:off x="777240" y="16687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81508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417320"/>
            <a:ext cx="5760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Mutual-fund information is distributed across multiple datasets and reporting frequencies.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548640" y="2670048"/>
            <a:ext cx="7040880" cy="1069848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9" name="Icon circle 2"/>
          <p:cNvSpPr/>
          <p:nvPr/>
        </p:nvSpPr>
        <p:spPr>
          <a:xfrm>
            <a:off x="777240" y="292150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06781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2670048"/>
            <a:ext cx="5760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Build a unified workflow to clean, store, analyse and visualise fund and industry data.</a:t>
            </a:r>
            <a:endParaRPr lang="en-US" sz="1600" dirty="0"/>
          </a:p>
        </p:txBody>
      </p:sp>
      <p:sp>
        <p:nvSpPr>
          <p:cNvPr id="12" name="Card 3"/>
          <p:cNvSpPr/>
          <p:nvPr/>
        </p:nvSpPr>
        <p:spPr>
          <a:xfrm>
            <a:off x="548640" y="3922776"/>
            <a:ext cx="7040880" cy="1069848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13" name="Icon circle 3"/>
          <p:cNvSpPr/>
          <p:nvPr/>
        </p:nvSpPr>
        <p:spPr>
          <a:xfrm>
            <a:off x="777240" y="417423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3205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600200" y="3922776"/>
            <a:ext cx="5760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Support comparison of NAV, AUM, SIP flows, risk-adjusted returns and investor transaction patterns.</a:t>
            </a:r>
            <a:endParaRPr lang="en-US" sz="1600" dirty="0"/>
          </a:p>
        </p:txBody>
      </p:sp>
      <p:sp>
        <p:nvSpPr>
          <p:cNvPr id="16" name="Card 4"/>
          <p:cNvSpPr/>
          <p:nvPr/>
        </p:nvSpPr>
        <p:spPr>
          <a:xfrm>
            <a:off x="548640" y="5175504"/>
            <a:ext cx="7040880" cy="1069848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17" name="Icon circle 4"/>
          <p:cNvSpPr/>
          <p:nvPr/>
        </p:nvSpPr>
        <p:spPr>
          <a:xfrm>
            <a:off x="777240" y="5426964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5573268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600200" y="5175504"/>
            <a:ext cx="5760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Deliver reproducible code, a relational database, analytical notebooks, dashboard and documentation.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3. Data Sources &amp; Coverage</a:t>
            </a:r>
            <a:endParaRPr lang="en-US" sz="3400" dirty="0"/>
          </a:p>
        </p:txBody>
      </p:sp>
      <p:pic>
        <p:nvPicPr>
          <p:cNvPr id="3" name="Illustration panel" descr="Databases and CSV fi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931920" cy="4828032"/>
          </a:xfrm>
          <a:prstGeom prst="rect">
            <a:avLst/>
          </a:prstGeom>
        </p:spPr>
      </p:pic>
      <p:sp>
        <p:nvSpPr>
          <p:cNvPr id="4" name="Card 1"/>
          <p:cNvSpPr/>
          <p:nvPr/>
        </p:nvSpPr>
        <p:spPr>
          <a:xfrm>
            <a:off x="4965192" y="1417320"/>
            <a:ext cx="7040880" cy="819302"/>
          </a:xfrm>
          <a:prstGeom prst="roundRect">
            <a:avLst>
              <a:gd name="adj" fmla="val 1339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5" name="Icon circle 1"/>
          <p:cNvSpPr/>
          <p:nvPr/>
        </p:nvSpPr>
        <p:spPr>
          <a:xfrm>
            <a:off x="5193792" y="1543507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1689811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16752" y="1417320"/>
            <a:ext cx="576072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10 supplied CSV datasets covering 40 schemes and 10 fund houses.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965192" y="2419502"/>
            <a:ext cx="7040880" cy="819302"/>
          </a:xfrm>
          <a:prstGeom prst="roundRect">
            <a:avLst>
              <a:gd name="adj" fmla="val 1339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9" name="Icon circle 2"/>
          <p:cNvSpPr/>
          <p:nvPr/>
        </p:nvSpPr>
        <p:spPr>
          <a:xfrm>
            <a:off x="5193792" y="254569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096" y="2691994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016752" y="2419502"/>
            <a:ext cx="576072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46,000 daily NAV observations: 03 Jan 2022 – 29 May 2026.</a:t>
            </a:r>
            <a:endParaRPr lang="en-US" sz="1600" dirty="0"/>
          </a:p>
        </p:txBody>
      </p:sp>
      <p:sp>
        <p:nvSpPr>
          <p:cNvPr id="12" name="Card 3"/>
          <p:cNvSpPr/>
          <p:nvPr/>
        </p:nvSpPr>
        <p:spPr>
          <a:xfrm>
            <a:off x="4965192" y="3421685"/>
            <a:ext cx="7040880" cy="819302"/>
          </a:xfrm>
          <a:prstGeom prst="roundRect">
            <a:avLst>
              <a:gd name="adj" fmla="val 1339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13" name="Icon circle 3"/>
          <p:cNvSpPr/>
          <p:nvPr/>
        </p:nvSpPr>
        <p:spPr>
          <a:xfrm>
            <a:off x="5193792" y="3547872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3694176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016752" y="3421685"/>
            <a:ext cx="576072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90 AUM observations across nine reporting dates: Mar 2022 – Dec 2025.</a:t>
            </a:r>
            <a:endParaRPr lang="en-US" sz="1600" dirty="0"/>
          </a:p>
        </p:txBody>
      </p:sp>
      <p:sp>
        <p:nvSpPr>
          <p:cNvPr id="16" name="Card 4"/>
          <p:cNvSpPr/>
          <p:nvPr/>
        </p:nvSpPr>
        <p:spPr>
          <a:xfrm>
            <a:off x="4965192" y="4423867"/>
            <a:ext cx="7040880" cy="819302"/>
          </a:xfrm>
          <a:prstGeom prst="roundRect">
            <a:avLst>
              <a:gd name="adj" fmla="val 1339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17" name="Icon circle 4"/>
          <p:cNvSpPr/>
          <p:nvPr/>
        </p:nvSpPr>
        <p:spPr>
          <a:xfrm>
            <a:off x="5193792" y="4550054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096" y="4696358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016752" y="4423867"/>
            <a:ext cx="576072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48 monthly SIP observations: Jan 2022 – Dec 2025; 21 folio observations.</a:t>
            </a:r>
            <a:endParaRPr lang="en-US" sz="1600" dirty="0"/>
          </a:p>
        </p:txBody>
      </p:sp>
      <p:sp>
        <p:nvSpPr>
          <p:cNvPr id="20" name="Card 5"/>
          <p:cNvSpPr/>
          <p:nvPr/>
        </p:nvSpPr>
        <p:spPr>
          <a:xfrm>
            <a:off x="4965192" y="5426050"/>
            <a:ext cx="7040880" cy="819302"/>
          </a:xfrm>
          <a:prstGeom prst="roundRect">
            <a:avLst>
              <a:gd name="adj" fmla="val 13393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21" name="Icon circle 5"/>
          <p:cNvSpPr/>
          <p:nvPr/>
        </p:nvSpPr>
        <p:spPr>
          <a:xfrm>
            <a:off x="5193792" y="5552237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2" name="Icon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0096" y="5698541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016752" y="5426050"/>
            <a:ext cx="576072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32,778 project-provided investor transactions: Jan 2024 – May 2025; treat as synthetic.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4. Solution Architecture &amp; ETL</a:t>
            </a:r>
            <a:endParaRPr lang="en-US" sz="3400" dirty="0"/>
          </a:p>
        </p:txBody>
      </p:sp>
      <p:sp>
        <p:nvSpPr>
          <p:cNvPr id="3" name="Stage card 1"/>
          <p:cNvSpPr/>
          <p:nvPr/>
        </p:nvSpPr>
        <p:spPr>
          <a:xfrm>
            <a:off x="548640" y="1417320"/>
            <a:ext cx="1998878" cy="3429000"/>
          </a:xfrm>
          <a:prstGeom prst="roundRect">
            <a:avLst>
              <a:gd name="adj" fmla="val 5489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4" name="Icon circle 1"/>
          <p:cNvSpPr/>
          <p:nvPr/>
        </p:nvSpPr>
        <p:spPr>
          <a:xfrm>
            <a:off x="777240" y="16459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792224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7744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Extract: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788920"/>
            <a:ext cx="16331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source CSVs and selected mfapi.in NAV API extracts.</a:t>
            </a:r>
            <a:endParaRPr lang="en-US" sz="1400" dirty="0"/>
          </a:p>
        </p:txBody>
      </p:sp>
      <p:sp>
        <p:nvSpPr>
          <p:cNvPr id="8" name="Arrow circle 1"/>
          <p:cNvSpPr/>
          <p:nvPr/>
        </p:nvSpPr>
        <p:spPr>
          <a:xfrm>
            <a:off x="2529230" y="1783080"/>
            <a:ext cx="310896" cy="310896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9" name="Arrow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670" y="1874520"/>
            <a:ext cx="128016" cy="128016"/>
          </a:xfrm>
          <a:prstGeom prst="rect">
            <a:avLst/>
          </a:prstGeom>
        </p:spPr>
      </p:pic>
      <p:sp>
        <p:nvSpPr>
          <p:cNvPr id="10" name="Stage card 2"/>
          <p:cNvSpPr/>
          <p:nvPr/>
        </p:nvSpPr>
        <p:spPr>
          <a:xfrm>
            <a:off x="2821838" y="1417320"/>
            <a:ext cx="1998878" cy="3429000"/>
          </a:xfrm>
          <a:prstGeom prst="roundRect">
            <a:avLst>
              <a:gd name="adj" fmla="val 5489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11" name="Icon circle 2"/>
          <p:cNvSpPr/>
          <p:nvPr/>
        </p:nvSpPr>
        <p:spPr>
          <a:xfrm>
            <a:off x="3050438" y="164592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742" y="179222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050438" y="237744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Transform: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3050438" y="2788920"/>
            <a:ext cx="16331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parse dates, standardise transaction types, validate numeric domains and remove duplicates.</a:t>
            </a:r>
            <a:endParaRPr lang="en-US" sz="1400" dirty="0"/>
          </a:p>
        </p:txBody>
      </p:sp>
      <p:sp>
        <p:nvSpPr>
          <p:cNvPr id="15" name="Arrow circle 2"/>
          <p:cNvSpPr/>
          <p:nvPr/>
        </p:nvSpPr>
        <p:spPr>
          <a:xfrm>
            <a:off x="4802429" y="1783080"/>
            <a:ext cx="310896" cy="310896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16" name="Arrow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3869" y="1874520"/>
            <a:ext cx="128016" cy="128016"/>
          </a:xfrm>
          <a:prstGeom prst="rect">
            <a:avLst/>
          </a:prstGeom>
        </p:spPr>
      </p:pic>
      <p:sp>
        <p:nvSpPr>
          <p:cNvPr id="17" name="Stage card 3"/>
          <p:cNvSpPr/>
          <p:nvPr/>
        </p:nvSpPr>
        <p:spPr>
          <a:xfrm>
            <a:off x="5095037" y="1417320"/>
            <a:ext cx="1998878" cy="3429000"/>
          </a:xfrm>
          <a:prstGeom prst="roundRect">
            <a:avLst>
              <a:gd name="adj" fmla="val 5489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18" name="Icon circle 3"/>
          <p:cNvSpPr/>
          <p:nvPr/>
        </p:nvSpPr>
        <p:spPr>
          <a:xfrm>
            <a:off x="5323637" y="164592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Icon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9941" y="1792224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323637" y="237744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Load:</a:t>
            </a:r>
            <a:endParaRPr lang="en-US" sz="1800" dirty="0"/>
          </a:p>
        </p:txBody>
      </p:sp>
      <p:sp>
        <p:nvSpPr>
          <p:cNvPr id="21" name="Text 14"/>
          <p:cNvSpPr txBox="1"/>
          <p:nvPr/>
        </p:nvSpPr>
        <p:spPr>
          <a:xfrm>
            <a:off x="5323637" y="2788920"/>
            <a:ext cx="16331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processed CSVs and SQLite fact/dimension tables using SQLAlchemy and pandas.</a:t>
            </a:r>
            <a:endParaRPr lang="en-US" sz="1400" dirty="0"/>
          </a:p>
        </p:txBody>
      </p:sp>
      <p:sp>
        <p:nvSpPr>
          <p:cNvPr id="22" name="Arrow circle 3"/>
          <p:cNvSpPr/>
          <p:nvPr/>
        </p:nvSpPr>
        <p:spPr>
          <a:xfrm>
            <a:off x="7075627" y="1783080"/>
            <a:ext cx="310896" cy="310896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23" name="Arrow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7067" y="1874520"/>
            <a:ext cx="128016" cy="128016"/>
          </a:xfrm>
          <a:prstGeom prst="rect">
            <a:avLst/>
          </a:prstGeom>
        </p:spPr>
      </p:pic>
      <p:sp>
        <p:nvSpPr>
          <p:cNvPr id="24" name="Stage card 4"/>
          <p:cNvSpPr/>
          <p:nvPr/>
        </p:nvSpPr>
        <p:spPr>
          <a:xfrm>
            <a:off x="7368235" y="1417320"/>
            <a:ext cx="1998878" cy="3429000"/>
          </a:xfrm>
          <a:prstGeom prst="roundRect">
            <a:avLst>
              <a:gd name="adj" fmla="val 5489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25" name="Icon circle 4"/>
          <p:cNvSpPr/>
          <p:nvPr/>
        </p:nvSpPr>
        <p:spPr>
          <a:xfrm>
            <a:off x="7596835" y="164592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6" name="Icon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3139" y="1792224"/>
            <a:ext cx="274320" cy="27432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596835" y="237744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Analyse:</a:t>
            </a:r>
            <a:endParaRPr lang="en-US" sz="1800" dirty="0"/>
          </a:p>
        </p:txBody>
      </p:sp>
      <p:sp>
        <p:nvSpPr>
          <p:cNvPr id="28" name="Text 19"/>
          <p:cNvSpPr txBox="1"/>
          <p:nvPr/>
        </p:nvSpPr>
        <p:spPr>
          <a:xfrm>
            <a:off x="7596835" y="2788920"/>
            <a:ext cx="16331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SQL queries, EDA, fund performance, risk metrics and benchmark comparisons.</a:t>
            </a:r>
            <a:endParaRPr lang="en-US" sz="1400" dirty="0"/>
          </a:p>
        </p:txBody>
      </p:sp>
      <p:sp>
        <p:nvSpPr>
          <p:cNvPr id="29" name="Arrow circle 4"/>
          <p:cNvSpPr/>
          <p:nvPr/>
        </p:nvSpPr>
        <p:spPr>
          <a:xfrm>
            <a:off x="9348826" y="1783080"/>
            <a:ext cx="310896" cy="310896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bg2"/>
            </a:solidFill>
            <a:prstDash val="solid"/>
          </a:ln>
        </p:spPr>
      </p:sp>
      <p:pic>
        <p:nvPicPr>
          <p:cNvPr id="30" name="Arrow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0266" y="1874520"/>
            <a:ext cx="128016" cy="128016"/>
          </a:xfrm>
          <a:prstGeom prst="rect">
            <a:avLst/>
          </a:prstGeom>
        </p:spPr>
      </p:pic>
      <p:sp>
        <p:nvSpPr>
          <p:cNvPr id="31" name="Stage card 5"/>
          <p:cNvSpPr/>
          <p:nvPr/>
        </p:nvSpPr>
        <p:spPr>
          <a:xfrm>
            <a:off x="9641434" y="1417320"/>
            <a:ext cx="1998878" cy="3429000"/>
          </a:xfrm>
          <a:prstGeom prst="roundRect">
            <a:avLst>
              <a:gd name="adj" fmla="val 5489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32" name="Icon circle 5"/>
          <p:cNvSpPr/>
          <p:nvPr/>
        </p:nvSpPr>
        <p:spPr>
          <a:xfrm>
            <a:off x="9870034" y="164592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3" name="Icon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6338" y="1792224"/>
            <a:ext cx="274320" cy="27432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9870034" y="2377440"/>
            <a:ext cx="16331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Present:</a:t>
            </a:r>
            <a:endParaRPr lang="en-US" sz="1800" dirty="0"/>
          </a:p>
        </p:txBody>
      </p:sp>
      <p:sp>
        <p:nvSpPr>
          <p:cNvPr id="35" name="Text 24"/>
          <p:cNvSpPr txBox="1"/>
          <p:nvPr/>
        </p:nvSpPr>
        <p:spPr>
          <a:xfrm>
            <a:off x="9870034" y="2788920"/>
            <a:ext cx="16331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Power BI pages for industry, performance, investor and SIP/market analysis.</a:t>
            </a:r>
            <a:endParaRPr lang="en-US" sz="1400" dirty="0"/>
          </a:p>
        </p:txBody>
      </p:sp>
      <p:pic>
        <p:nvPicPr>
          <p:cNvPr id="36" name="Data flow banner" descr="Flowing data lines">    </p:cNvPr>
          <p:cNvPicPr>
            <a:picLocks noChangeAspect="1"/>
          </p:cNvPicPr>
          <p:nvPr/>
        </p:nvPicPr>
        <p:blipFill>
          <a:blip r:embed="rId10"/>
          <a:srcRect l="500" r="500" t="0" b="0"/>
          <a:stretch/>
        </p:blipFill>
        <p:spPr>
          <a:xfrm>
            <a:off x="548640" y="5074920"/>
            <a:ext cx="1109167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5. EDA Highlights — NAV &amp; AUM</a:t>
            </a:r>
            <a:endParaRPr lang="en-US" sz="3400" dirty="0"/>
          </a:p>
        </p:txBody>
      </p:sp>
      <p:pic>
        <p:nvPicPr>
          <p:cNvPr id="3" name="Illustration panel" descr="Bar chart, donut and trend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2" y="1417320"/>
            <a:ext cx="3931920" cy="4828032"/>
          </a:xfrm>
          <a:prstGeom prst="rect">
            <a:avLst/>
          </a:prstGeom>
        </p:spPr>
      </p:pic>
      <p:sp>
        <p:nvSpPr>
          <p:cNvPr id="4" name="Card 1"/>
          <p:cNvSpPr/>
          <p:nvPr/>
        </p:nvSpPr>
        <p:spPr>
          <a:xfrm>
            <a:off x="548640" y="1417320"/>
            <a:ext cx="3406140" cy="2299716"/>
          </a:xfrm>
          <a:prstGeom prst="roundRect">
            <a:avLst>
              <a:gd name="adj" fmla="val 477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5" name="Icon circle 1"/>
          <p:cNvSpPr/>
          <p:nvPr/>
        </p:nvSpPr>
        <p:spPr>
          <a:xfrm>
            <a:off x="822960" y="167335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819656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377440"/>
            <a:ext cx="28575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40 schemes each have 1,150 NAV observations in the supplied history.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183380" y="1417320"/>
            <a:ext cx="3406140" cy="2299716"/>
          </a:xfrm>
          <a:prstGeom prst="roundRect">
            <a:avLst>
              <a:gd name="adj" fmla="val 477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9" name="Icon circle 2"/>
          <p:cNvSpPr/>
          <p:nvPr/>
        </p:nvSpPr>
        <p:spPr>
          <a:xfrm>
            <a:off x="4457700" y="16733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004" y="1819656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457700" y="2377440"/>
            <a:ext cx="28575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duplicate scheme/date NAV keys were found in the documented audit.</a:t>
            </a:r>
            <a:endParaRPr lang="en-US" sz="1600" dirty="0"/>
          </a:p>
        </p:txBody>
      </p:sp>
      <p:sp>
        <p:nvSpPr>
          <p:cNvPr id="12" name="Card 3"/>
          <p:cNvSpPr/>
          <p:nvPr/>
        </p:nvSpPr>
        <p:spPr>
          <a:xfrm>
            <a:off x="548640" y="3945636"/>
            <a:ext cx="3406140" cy="2299716"/>
          </a:xfrm>
          <a:prstGeom prst="roundRect">
            <a:avLst>
              <a:gd name="adj" fmla="val 477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13" name="Icon circle 3"/>
          <p:cNvSpPr/>
          <p:nvPr/>
        </p:nvSpPr>
        <p:spPr>
          <a:xfrm>
            <a:off x="822960" y="4201668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34797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22960" y="4905756"/>
            <a:ext cx="28575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Latest AUM snapshot is 31 Dec 2025; supplied ten-fund-house sample totals ₹62.74 lakh crore.</a:t>
            </a:r>
            <a:endParaRPr lang="en-US" sz="1600" dirty="0"/>
          </a:p>
        </p:txBody>
      </p:sp>
      <p:sp>
        <p:nvSpPr>
          <p:cNvPr id="16" name="Card 4"/>
          <p:cNvSpPr/>
          <p:nvPr/>
        </p:nvSpPr>
        <p:spPr>
          <a:xfrm>
            <a:off x="4183380" y="3945636"/>
            <a:ext cx="3406140" cy="2299716"/>
          </a:xfrm>
          <a:prstGeom prst="roundRect">
            <a:avLst>
              <a:gd name="adj" fmla="val 477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17" name="Icon circle 4"/>
          <p:cNvSpPr/>
          <p:nvPr/>
        </p:nvSpPr>
        <p:spPr>
          <a:xfrm>
            <a:off x="4457700" y="4201668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4004" y="4347972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457700" y="4905756"/>
            <a:ext cx="28575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SBI Mutual Fund is the largest supplied fund-house record at ₹12.50 lakh crore in that snapshot.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6. EDA Highlights — SIP &amp; Folios</a:t>
            </a:r>
            <a:endParaRPr lang="en-US" sz="3400" dirty="0"/>
          </a:p>
        </p:txBody>
      </p:sp>
      <p:pic>
        <p:nvPicPr>
          <p:cNvPr id="3" name="Illustration panel" descr="Rising SIP trend and investor ic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931920" cy="4828032"/>
          </a:xfrm>
          <a:prstGeom prst="rect">
            <a:avLst/>
          </a:prstGeom>
        </p:spPr>
      </p:pic>
      <p:sp>
        <p:nvSpPr>
          <p:cNvPr id="4" name="Card 1"/>
          <p:cNvSpPr/>
          <p:nvPr/>
        </p:nvSpPr>
        <p:spPr>
          <a:xfrm>
            <a:off x="4965192" y="1417320"/>
            <a:ext cx="3406140" cy="2299716"/>
          </a:xfrm>
          <a:prstGeom prst="roundRect">
            <a:avLst>
              <a:gd name="adj" fmla="val 477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5" name="Icon circle 1"/>
          <p:cNvSpPr/>
          <p:nvPr/>
        </p:nvSpPr>
        <p:spPr>
          <a:xfrm>
            <a:off x="5239512" y="167335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819656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239512" y="2377440"/>
            <a:ext cx="28575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Monthly SIP series covers Jan 2022 – Dec 2025 (48 months).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8599932" y="1417320"/>
            <a:ext cx="3406140" cy="2299716"/>
          </a:xfrm>
          <a:prstGeom prst="roundRect">
            <a:avLst>
              <a:gd name="adj" fmla="val 477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9" name="Icon circle 2"/>
          <p:cNvSpPr/>
          <p:nvPr/>
        </p:nvSpPr>
        <p:spPr>
          <a:xfrm>
            <a:off x="8874252" y="16733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556" y="1819656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874252" y="2377440"/>
            <a:ext cx="28575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Highest supplied monthly SIP inflow: ₹31,002 crore in Dec 2025.</a:t>
            </a:r>
            <a:endParaRPr lang="en-US" sz="1600" dirty="0"/>
          </a:p>
        </p:txBody>
      </p:sp>
      <p:sp>
        <p:nvSpPr>
          <p:cNvPr id="12" name="Card 3"/>
          <p:cNvSpPr/>
          <p:nvPr/>
        </p:nvSpPr>
        <p:spPr>
          <a:xfrm>
            <a:off x="4965192" y="3945636"/>
            <a:ext cx="3406140" cy="2299716"/>
          </a:xfrm>
          <a:prstGeom prst="roundRect">
            <a:avLst>
              <a:gd name="adj" fmla="val 477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13" name="Icon circle 3"/>
          <p:cNvSpPr/>
          <p:nvPr/>
        </p:nvSpPr>
        <p:spPr>
          <a:xfrm>
            <a:off x="5239512" y="4201668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816" y="434797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239512" y="4905756"/>
            <a:ext cx="28575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Industry folios increase from 13.26 crore in Jan 2022 to 26.12 crore in Dec 2025.</a:t>
            </a:r>
            <a:endParaRPr lang="en-US" sz="1600" dirty="0"/>
          </a:p>
        </p:txBody>
      </p:sp>
      <p:sp>
        <p:nvSpPr>
          <p:cNvPr id="16" name="Card 4"/>
          <p:cNvSpPr/>
          <p:nvPr/>
        </p:nvSpPr>
        <p:spPr>
          <a:xfrm>
            <a:off x="8599932" y="3945636"/>
            <a:ext cx="3406140" cy="2299716"/>
          </a:xfrm>
          <a:prstGeom prst="roundRect">
            <a:avLst>
              <a:gd name="adj" fmla="val 477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17" name="Icon circle 4"/>
          <p:cNvSpPr/>
          <p:nvPr/>
        </p:nvSpPr>
        <p:spPr>
          <a:xfrm>
            <a:off x="8874252" y="4201668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556" y="4347972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874252" y="4905756"/>
            <a:ext cx="28575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2022 YoY SIP growth is missing because 2021 comparison months are not included.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7. Performance Analytics — Risk &amp; Return</a:t>
            </a:r>
            <a:endParaRPr lang="en-US" sz="3400" dirty="0"/>
          </a:p>
        </p:txBody>
      </p:sp>
      <p:pic>
        <p:nvPicPr>
          <p:cNvPr id="3" name="Illustration panel" descr="Risk-return scatter pl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2" y="1417320"/>
            <a:ext cx="3931920" cy="4828032"/>
          </a:xfrm>
          <a:prstGeom prst="rect">
            <a:avLst/>
          </a:prstGeom>
        </p:spPr>
      </p:pic>
      <p:sp>
        <p:nvSpPr>
          <p:cNvPr id="4" name="Card 1"/>
          <p:cNvSpPr/>
          <p:nvPr/>
        </p:nvSpPr>
        <p:spPr>
          <a:xfrm>
            <a:off x="548640" y="1417320"/>
            <a:ext cx="7040880" cy="1069848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5" name="Icon circle 1"/>
          <p:cNvSpPr/>
          <p:nvPr/>
        </p:nvSpPr>
        <p:spPr>
          <a:xfrm>
            <a:off x="777240" y="16687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81508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417320"/>
            <a:ext cx="5760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Performance table covers 40 schemes with 1Y, 3Y and 5Y reported returns.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548640" y="2670048"/>
            <a:ext cx="7040880" cy="1069848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9" name="Icon circle 2"/>
          <p:cNvSpPr/>
          <p:nvPr/>
        </p:nvSpPr>
        <p:spPr>
          <a:xfrm>
            <a:off x="777240" y="292150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06781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2670048"/>
            <a:ext cx="5760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Metrics include Sharpe, Sortino, alpha, beta, annualised volatility and maximum drawdown.</a:t>
            </a:r>
            <a:endParaRPr lang="en-US" sz="1600" dirty="0"/>
          </a:p>
        </p:txBody>
      </p:sp>
      <p:sp>
        <p:nvSpPr>
          <p:cNvPr id="12" name="Card 3"/>
          <p:cNvSpPr/>
          <p:nvPr/>
        </p:nvSpPr>
        <p:spPr>
          <a:xfrm>
            <a:off x="548640" y="3922776"/>
            <a:ext cx="7040880" cy="1069848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13" name="Icon circle 3"/>
          <p:cNvSpPr/>
          <p:nvPr/>
        </p:nvSpPr>
        <p:spPr>
          <a:xfrm>
            <a:off x="777240" y="417423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3205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600200" y="3922776"/>
            <a:ext cx="5760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Top reported 5Y returns are concentrated among several small-cap schemes in this sample.</a:t>
            </a:r>
            <a:endParaRPr lang="en-US" sz="1600" dirty="0"/>
          </a:p>
        </p:txBody>
      </p:sp>
      <p:sp>
        <p:nvSpPr>
          <p:cNvPr id="16" name="Card 4"/>
          <p:cNvSpPr/>
          <p:nvPr/>
        </p:nvSpPr>
        <p:spPr>
          <a:xfrm>
            <a:off x="548640" y="5175504"/>
            <a:ext cx="7040880" cy="1069848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17" name="Icon circle 4"/>
          <p:cNvSpPr/>
          <p:nvPr/>
        </p:nvSpPr>
        <p:spPr>
          <a:xfrm>
            <a:off x="777240" y="5426964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5573268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600200" y="5175504"/>
            <a:ext cx="5760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Risk metrics are method-dependent; document annualisation, risk-free rate and downside deviation assumptions.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8. Performance Analytics — Benchmarking</a:t>
            </a:r>
            <a:endParaRPr lang="en-US" sz="3400" dirty="0"/>
          </a:p>
        </p:txBody>
      </p:sp>
      <p:pic>
        <p:nvPicPr>
          <p:cNvPr id="3" name="Illustration panel" descr="Fund versus benchmark li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931920" cy="4828032"/>
          </a:xfrm>
          <a:prstGeom prst="rect">
            <a:avLst/>
          </a:prstGeom>
        </p:spPr>
      </p:pic>
      <p:sp>
        <p:nvSpPr>
          <p:cNvPr id="4" name="Card 1"/>
          <p:cNvSpPr/>
          <p:nvPr/>
        </p:nvSpPr>
        <p:spPr>
          <a:xfrm>
            <a:off x="4965192" y="1417320"/>
            <a:ext cx="7040880" cy="1069848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5" name="Icon circle 1"/>
          <p:cNvSpPr/>
          <p:nvPr/>
        </p:nvSpPr>
        <p:spPr>
          <a:xfrm>
            <a:off x="5193792" y="16687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181508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016752" y="1417320"/>
            <a:ext cx="5760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Benchmark dataset contains seven indices with 1,150 observations each.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965192" y="2670048"/>
            <a:ext cx="7040880" cy="1069848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9" name="Icon circle 2"/>
          <p:cNvSpPr/>
          <p:nvPr/>
        </p:nvSpPr>
        <p:spPr>
          <a:xfrm>
            <a:off x="5193792" y="292150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096" y="306781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016752" y="2670048"/>
            <a:ext cx="5760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Fund and benchmark returns must be aligned on matching dates before regression.</a:t>
            </a:r>
            <a:endParaRPr lang="en-US" sz="1600" dirty="0"/>
          </a:p>
        </p:txBody>
      </p:sp>
      <p:sp>
        <p:nvSpPr>
          <p:cNvPr id="12" name="Card 3"/>
          <p:cNvSpPr/>
          <p:nvPr/>
        </p:nvSpPr>
        <p:spPr>
          <a:xfrm>
            <a:off x="4965192" y="3922776"/>
            <a:ext cx="7040880" cy="1069848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13" name="Icon circle 3"/>
          <p:cNvSpPr/>
          <p:nvPr/>
        </p:nvSpPr>
        <p:spPr>
          <a:xfrm>
            <a:off x="5193792" y="417423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96" y="43205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016752" y="3922776"/>
            <a:ext cx="5760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Tracking error = standard deviation of daily active returns × √252.</a:t>
            </a:r>
            <a:endParaRPr lang="en-US" sz="1600" dirty="0"/>
          </a:p>
        </p:txBody>
      </p:sp>
      <p:sp>
        <p:nvSpPr>
          <p:cNvPr id="16" name="Card 4"/>
          <p:cNvSpPr/>
          <p:nvPr/>
        </p:nvSpPr>
        <p:spPr>
          <a:xfrm>
            <a:off x="4965192" y="5175504"/>
            <a:ext cx="7040880" cy="1069848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17" name="Icon circle 4"/>
          <p:cNvSpPr/>
          <p:nvPr/>
        </p:nvSpPr>
        <p:spPr>
          <a:xfrm>
            <a:off x="5193792" y="5426964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0096" y="5573268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016752" y="5175504"/>
            <a:ext cx="5760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Use scheme-specific stated benchmarks where available; identify any proxy benchmark clearly.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9. Dashboard — Industry Overview</a:t>
            </a:r>
            <a:endParaRPr lang="en-US" sz="3400" dirty="0"/>
          </a:p>
        </p:txBody>
      </p:sp>
      <p:pic>
        <p:nvPicPr>
          <p:cNvPr id="3" name="Illustration panel" descr="Dashboard with KPI tiles and cha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2" y="1417320"/>
            <a:ext cx="3931920" cy="4828032"/>
          </a:xfrm>
          <a:prstGeom prst="rect">
            <a:avLst/>
          </a:prstGeom>
        </p:spPr>
      </p:pic>
      <p:sp>
        <p:nvSpPr>
          <p:cNvPr id="4" name="Card 1"/>
          <p:cNvSpPr/>
          <p:nvPr/>
        </p:nvSpPr>
        <p:spPr>
          <a:xfrm>
            <a:off x="548640" y="1417320"/>
            <a:ext cx="3406140" cy="2299716"/>
          </a:xfrm>
          <a:prstGeom prst="roundRect">
            <a:avLst>
              <a:gd name="adj" fmla="val 477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5" name="Icon circle 1"/>
          <p:cNvSpPr/>
          <p:nvPr/>
        </p:nvSpPr>
        <p:spPr>
          <a:xfrm>
            <a:off x="822960" y="167335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819656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377440"/>
            <a:ext cx="28575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KPIs: latest AUM, latest monthly SIP inflow, latest folio count and scheme coverage.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183380" y="1417320"/>
            <a:ext cx="3406140" cy="2299716"/>
          </a:xfrm>
          <a:prstGeom prst="roundRect">
            <a:avLst>
              <a:gd name="adj" fmla="val 477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9" name="Icon circle 2"/>
          <p:cNvSpPr/>
          <p:nvPr/>
        </p:nvSpPr>
        <p:spPr>
          <a:xfrm>
            <a:off x="4457700" y="16733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4004" y="1819656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457700" y="2377440"/>
            <a:ext cx="28575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Charts: AUM trend by reporting date and latest AUM by fund house.</a:t>
            </a:r>
            <a:endParaRPr lang="en-US" sz="1600" dirty="0"/>
          </a:p>
        </p:txBody>
      </p:sp>
      <p:sp>
        <p:nvSpPr>
          <p:cNvPr id="12" name="Card 3"/>
          <p:cNvSpPr/>
          <p:nvPr/>
        </p:nvSpPr>
        <p:spPr>
          <a:xfrm>
            <a:off x="548640" y="3945636"/>
            <a:ext cx="3406140" cy="2299716"/>
          </a:xfrm>
          <a:prstGeom prst="roundRect">
            <a:avLst>
              <a:gd name="adj" fmla="val 477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13" name="Icon circle 3"/>
          <p:cNvSpPr/>
          <p:nvPr/>
        </p:nvSpPr>
        <p:spPr>
          <a:xfrm>
            <a:off x="822960" y="4201668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34797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22960" y="4905756"/>
            <a:ext cx="28575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Filters: date and fund house.</a:t>
            </a:r>
            <a:endParaRPr lang="en-US" sz="1600" dirty="0"/>
          </a:p>
        </p:txBody>
      </p:sp>
      <p:sp>
        <p:nvSpPr>
          <p:cNvPr id="16" name="Card 4"/>
          <p:cNvSpPr/>
          <p:nvPr/>
        </p:nvSpPr>
        <p:spPr>
          <a:xfrm>
            <a:off x="4183380" y="3945636"/>
            <a:ext cx="3406140" cy="2299716"/>
          </a:xfrm>
          <a:prstGeom prst="roundRect">
            <a:avLst>
              <a:gd name="adj" fmla="val 477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17" name="Icon circle 4"/>
          <p:cNvSpPr/>
          <p:nvPr/>
        </p:nvSpPr>
        <p:spPr>
          <a:xfrm>
            <a:off x="4457700" y="4201668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4004" y="4347972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457700" y="4905756"/>
            <a:ext cx="28575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Display source coverage and units on the page; do not sum AUM across historical dates.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10. Dashboard — Performance &amp; Investor Pages</a:t>
            </a:r>
            <a:endParaRPr lang="en-US" sz="3400" dirty="0"/>
          </a:p>
        </p:txBody>
      </p:sp>
      <p:pic>
        <p:nvPicPr>
          <p:cNvPr id="3" name="Illustration panel" descr="Scatter, donut and bar cha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931920" cy="4828032"/>
          </a:xfrm>
          <a:prstGeom prst="rect">
            <a:avLst/>
          </a:prstGeom>
        </p:spPr>
      </p:pic>
      <p:sp>
        <p:nvSpPr>
          <p:cNvPr id="4" name="Card 1"/>
          <p:cNvSpPr/>
          <p:nvPr/>
        </p:nvSpPr>
        <p:spPr>
          <a:xfrm>
            <a:off x="4965192" y="1417320"/>
            <a:ext cx="3406140" cy="2299716"/>
          </a:xfrm>
          <a:prstGeom prst="roundRect">
            <a:avLst>
              <a:gd name="adj" fmla="val 477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5" name="Icon circle 1"/>
          <p:cNvSpPr/>
          <p:nvPr/>
        </p:nvSpPr>
        <p:spPr>
          <a:xfrm>
            <a:off x="5239512" y="167335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819656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239512" y="2377440"/>
            <a:ext cx="28575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Fund performance: risk-return scatter, sortable scorecard and NAV-versus-benchmark detail.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8599932" y="1417320"/>
            <a:ext cx="3406140" cy="2299716"/>
          </a:xfrm>
          <a:prstGeom prst="roundRect">
            <a:avLst>
              <a:gd name="adj" fmla="val 477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9" name="Icon circle 2"/>
          <p:cNvSpPr/>
          <p:nvPr/>
        </p:nvSpPr>
        <p:spPr>
          <a:xfrm>
            <a:off x="8874252" y="1673352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556" y="1819656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874252" y="2377440"/>
            <a:ext cx="28575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Investor analytics: transaction amount by state, transaction-type mix and age-group analysis.</a:t>
            </a:r>
            <a:endParaRPr lang="en-US" sz="1600" dirty="0"/>
          </a:p>
        </p:txBody>
      </p:sp>
      <p:sp>
        <p:nvSpPr>
          <p:cNvPr id="12" name="Card 3"/>
          <p:cNvSpPr/>
          <p:nvPr/>
        </p:nvSpPr>
        <p:spPr>
          <a:xfrm>
            <a:off x="4965192" y="3945636"/>
            <a:ext cx="3406140" cy="2299716"/>
          </a:xfrm>
          <a:prstGeom prst="roundRect">
            <a:avLst>
              <a:gd name="adj" fmla="val 477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13" name="Icon circle 3"/>
          <p:cNvSpPr/>
          <p:nvPr/>
        </p:nvSpPr>
        <p:spPr>
          <a:xfrm>
            <a:off x="5239512" y="4201668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816" y="4347972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239512" y="4905756"/>
            <a:ext cx="28575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Slicers: fund house, category, plan, state, age group and city tier.</a:t>
            </a:r>
            <a:endParaRPr lang="en-US" sz="1600" dirty="0"/>
          </a:p>
        </p:txBody>
      </p:sp>
      <p:sp>
        <p:nvSpPr>
          <p:cNvPr id="16" name="Card 4"/>
          <p:cNvSpPr/>
          <p:nvPr/>
        </p:nvSpPr>
        <p:spPr>
          <a:xfrm>
            <a:off x="8599932" y="3945636"/>
            <a:ext cx="3406140" cy="2299716"/>
          </a:xfrm>
          <a:prstGeom prst="roundRect">
            <a:avLst>
              <a:gd name="adj" fmla="val 4771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17" name="Icon circle 4"/>
          <p:cNvSpPr/>
          <p:nvPr/>
        </p:nvSpPr>
        <p:spPr>
          <a:xfrm>
            <a:off x="8874252" y="4201668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556" y="4347972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874252" y="4905756"/>
            <a:ext cx="2857500" cy="1156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Investor transactions are synthetic/project-provided and are not evidence of actual customer behaviour.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11. Dashboard — SIP, Findings &amp; Recommendations</a:t>
            </a:r>
            <a:endParaRPr lang="en-US" sz="3400" dirty="0"/>
          </a:p>
        </p:txBody>
      </p:sp>
      <p:pic>
        <p:nvPicPr>
          <p:cNvPr id="3" name="Illustration panel" descr="Trend lines and category heat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2" y="1417320"/>
            <a:ext cx="3931920" cy="4828032"/>
          </a:xfrm>
          <a:prstGeom prst="rect">
            <a:avLst/>
          </a:prstGeom>
        </p:spPr>
      </p:pic>
      <p:sp>
        <p:nvSpPr>
          <p:cNvPr id="4" name="Card 1"/>
          <p:cNvSpPr/>
          <p:nvPr/>
        </p:nvSpPr>
        <p:spPr>
          <a:xfrm>
            <a:off x="548640" y="1417320"/>
            <a:ext cx="7040880" cy="1069848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5" name="Icon circle 1"/>
          <p:cNvSpPr/>
          <p:nvPr/>
        </p:nvSpPr>
        <p:spPr>
          <a:xfrm>
            <a:off x="777240" y="16687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81508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417320"/>
            <a:ext cx="5760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SIP trend: monthly inflow series and NIFTY50 market context.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548640" y="2670048"/>
            <a:ext cx="7040880" cy="1069848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9" name="Icon circle 2"/>
          <p:cNvSpPr/>
          <p:nvPr/>
        </p:nvSpPr>
        <p:spPr>
          <a:xfrm>
            <a:off x="777240" y="292150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06781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2670048"/>
            <a:ext cx="5760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Category inflow matrix covers Apr 2024 – Mar 2025 only.</a:t>
            </a:r>
            <a:endParaRPr lang="en-US" sz="1600" dirty="0"/>
          </a:p>
        </p:txBody>
      </p:sp>
      <p:sp>
        <p:nvSpPr>
          <p:cNvPr id="12" name="Card 3"/>
          <p:cNvSpPr/>
          <p:nvPr/>
        </p:nvSpPr>
        <p:spPr>
          <a:xfrm>
            <a:off x="548640" y="3922776"/>
            <a:ext cx="7040880" cy="1069848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13" name="Icon circle 3"/>
          <p:cNvSpPr/>
          <p:nvPr/>
        </p:nvSpPr>
        <p:spPr>
          <a:xfrm>
            <a:off x="777240" y="417423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3205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600200" y="3922776"/>
            <a:ext cx="5760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Preserve missing SIP YoY values for 2022; do not replace with zero.</a:t>
            </a:r>
            <a:endParaRPr lang="en-US" sz="1600" dirty="0"/>
          </a:p>
        </p:txBody>
      </p:sp>
      <p:sp>
        <p:nvSpPr>
          <p:cNvPr id="16" name="Card 4"/>
          <p:cNvSpPr/>
          <p:nvPr/>
        </p:nvSpPr>
        <p:spPr>
          <a:xfrm>
            <a:off x="548640" y="5175504"/>
            <a:ext cx="7040880" cy="1069848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A1128">
                <a:alpha val="12000"/>
              </a:srgbClr>
            </a:outerShdw>
          </a:effectLst>
        </p:spPr>
      </p:sp>
      <p:sp>
        <p:nvSpPr>
          <p:cNvPr id="17" name="Icon circle 4"/>
          <p:cNvSpPr/>
          <p:nvPr/>
        </p:nvSpPr>
        <p:spPr>
          <a:xfrm>
            <a:off x="777240" y="5426964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5573268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600200" y="5175504"/>
            <a:ext cx="5760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Improve data lineage, date dimensions, automated validation and refresh logging.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12. Conclusion &amp; Deliverables</a:t>
            </a:r>
            <a:endParaRPr lang="en-US" sz="3400" dirty="0"/>
          </a:p>
        </p:txBody>
      </p:sp>
      <p:pic>
        <p:nvPicPr>
          <p:cNvPr id="3" name="Illustration panel" descr="Completed deliverables check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2" y="1417320"/>
            <a:ext cx="3931920" cy="4828032"/>
          </a:xfrm>
          <a:prstGeom prst="rect">
            <a:avLst/>
          </a:prstGeom>
        </p:spPr>
      </p:pic>
      <p:sp>
        <p:nvSpPr>
          <p:cNvPr id="4" name="Card 1"/>
          <p:cNvSpPr/>
          <p:nvPr/>
        </p:nvSpPr>
        <p:spPr>
          <a:xfrm>
            <a:off x="548640" y="1417320"/>
            <a:ext cx="7040880" cy="1069848"/>
          </a:xfrm>
          <a:prstGeom prst="roundRect">
            <a:avLst>
              <a:gd name="adj" fmla="val 1025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5" name="Icon circle 1"/>
          <p:cNvSpPr/>
          <p:nvPr/>
        </p:nvSpPr>
        <p:spPr>
          <a:xfrm>
            <a:off x="777240" y="16687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1815084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417320"/>
            <a:ext cx="5760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Completed core data ingestion, cleaning, SQLite loading, SQL analysis and analytical notebooks.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548640" y="2670048"/>
            <a:ext cx="7040880" cy="1069848"/>
          </a:xfrm>
          <a:prstGeom prst="roundRect">
            <a:avLst>
              <a:gd name="adj" fmla="val 1025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9" name="Icon circle 2"/>
          <p:cNvSpPr/>
          <p:nvPr/>
        </p:nvSpPr>
        <p:spPr>
          <a:xfrm>
            <a:off x="777240" y="2921508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06781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2670048"/>
            <a:ext cx="5760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Final delivery package: source code, processed datasets, schema, queries, data dictionary, report and slides.</a:t>
            </a:r>
            <a:endParaRPr lang="en-US" sz="1600" dirty="0"/>
          </a:p>
        </p:txBody>
      </p:sp>
      <p:sp>
        <p:nvSpPr>
          <p:cNvPr id="12" name="Card 3"/>
          <p:cNvSpPr/>
          <p:nvPr/>
        </p:nvSpPr>
        <p:spPr>
          <a:xfrm>
            <a:off x="548640" y="3922776"/>
            <a:ext cx="7040880" cy="1069848"/>
          </a:xfrm>
          <a:prstGeom prst="roundRect">
            <a:avLst>
              <a:gd name="adj" fmla="val 1025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3" name="Icon circle 3"/>
          <p:cNvSpPr/>
          <p:nvPr/>
        </p:nvSpPr>
        <p:spPr>
          <a:xfrm>
            <a:off x="777240" y="4174236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3205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600200" y="3922776"/>
            <a:ext cx="5760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Power BI .pbix, PDF and four PNG exports must be confirmed from Power BI Desktop before final submission.</a:t>
            </a:r>
            <a:endParaRPr lang="en-US" sz="1600" dirty="0"/>
          </a:p>
        </p:txBody>
      </p:sp>
      <p:sp>
        <p:nvSpPr>
          <p:cNvPr id="16" name="Card 4"/>
          <p:cNvSpPr/>
          <p:nvPr/>
        </p:nvSpPr>
        <p:spPr>
          <a:xfrm>
            <a:off x="548640" y="5175504"/>
            <a:ext cx="7040880" cy="1069848"/>
          </a:xfrm>
          <a:prstGeom prst="roundRect">
            <a:avLst>
              <a:gd name="adj" fmla="val 10256"/>
            </a:avLst>
          </a:prstGeom>
          <a:solidFill>
            <a:schemeClr val="bg1">
              <a:alpha val="10000"/>
            </a:schemeClr>
          </a:solidFill>
          <a:ln w="12700">
            <a:solidFill>
              <a:schemeClr val="bg1">
                <a:alpha val="20000"/>
              </a:schemeClr>
            </a:solidFill>
            <a:prstDash val="solid"/>
          </a:ln>
        </p:spPr>
      </p:sp>
      <p:sp>
        <p:nvSpPr>
          <p:cNvPr id="17" name="Icon circle 4"/>
          <p:cNvSpPr/>
          <p:nvPr/>
        </p:nvSpPr>
        <p:spPr>
          <a:xfrm>
            <a:off x="777240" y="5426964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5573268"/>
            <a:ext cx="274320" cy="2743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600200" y="5175504"/>
            <a:ext cx="576072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Educational analytics only; not investment advice.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stock Analytics">
  <a:themeElements>
    <a:clrScheme name="Bluestock Analytics">
      <a:dk1>
        <a:srgbClr val="0A1128"/>
      </a:dk1>
      <a:lt1>
        <a:srgbClr val="FFFFFF"/>
      </a:lt1>
      <a:dk2>
        <a:srgbClr val="173B85"/>
      </a:dk2>
      <a:lt2>
        <a:srgbClr val="EEF3FB"/>
      </a:lt2>
      <a:accent1>
        <a:srgbClr val="1F6FEB"/>
      </a:accent1>
      <a:accent2>
        <a:srgbClr val="22C3B5"/>
      </a:accent2>
      <a:accent3>
        <a:srgbClr val="F5B83D"/>
      </a:accent3>
      <a:accent4>
        <a:srgbClr val="7C5CFF"/>
      </a:accent4>
      <a:accent5>
        <a:srgbClr val="4FA3FF"/>
      </a:accent5>
      <a:accent6>
        <a:srgbClr val="FF6B6B"/>
      </a:accent6>
      <a:hlink>
        <a:srgbClr val="1F6FEB"/>
      </a:hlink>
      <a:folHlink>
        <a:srgbClr val="7C5CFF"/>
      </a:folHlink>
    </a:clrScheme>
    <a:fontScheme name="Bluestock Analytic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Fintech – Mutual Fund Analytics Platform</dc:title>
  <dc:subject>PptxGenJS Presentation</dc:subject>
  <dc:creator>PptxGenJS</dc:creator>
  <cp:lastModifiedBy>PptxGenJS</cp:lastModifiedBy>
  <cp:revision>1</cp:revision>
  <dcterms:created xsi:type="dcterms:W3CDTF">2026-10-31T17:45:22Z</dcterms:created>
  <dcterms:modified xsi:type="dcterms:W3CDTF">2026-10-31T17:45:22Z</dcterms:modified>
</cp:coreProperties>
</file>